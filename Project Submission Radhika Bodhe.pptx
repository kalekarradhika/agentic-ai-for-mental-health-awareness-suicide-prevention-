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4" r:id="rId5"/>
    <p:sldId id="285" r:id="rId6"/>
    <p:sldId id="293" r:id="rId7"/>
    <p:sldId id="294" r:id="rId8"/>
    <p:sldId id="281" r:id="rId9"/>
    <p:sldId id="262" r:id="rId10"/>
    <p:sldId id="264" r:id="rId11"/>
    <p:sldId id="278" r:id="rId12"/>
    <p:sldId id="286" r:id="rId13"/>
    <p:sldId id="287" r:id="rId14"/>
    <p:sldId id="280"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591CF7-6E22-14BF-DB99-3894772A19DF}" v="65" dt="2026-04-21T05:09:31.452"/>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85" d="100"/>
          <a:sy n="85" d="100"/>
        </p:scale>
        <p:origin x="74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www.ibm.com/products/watsonx-orchestrate?utm_source=chatgpt.com"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hyperlink" Target="https://www.ibm.com/cloud?utm_source=chatgpt.com" TargetMode="External"/><Relationship Id="rId5" Type="http://schemas.openxmlformats.org/officeDocument/2006/relationships/hyperlink" Target="https://www.ibm.com/products/watsonx-data?utm_source=chatgpt.com" TargetMode="External"/><Relationship Id="rId4" Type="http://schemas.openxmlformats.org/officeDocument/2006/relationships/hyperlink" Target="https://www.ibm.com/products/watsonx-ai?utm_source=chatgpt.com"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ibm.com/products/watsonx-orchestrate?utm_source=chatgpt.com"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www.ibm.com/products/watsonx-orchestrate?utm_source=chatgpt.com"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r>
              <a:rPr lang="en-US" b="1" dirty="0"/>
              <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282763875"/>
              </p:ext>
            </p:extLst>
          </p:nvPr>
        </p:nvGraphicFramePr>
        <p:xfrm>
          <a:off x="1299257" y="2600315"/>
          <a:ext cx="9394989" cy="2608293"/>
        </p:xfrm>
        <a:graphic>
          <a:graphicData uri="http://schemas.openxmlformats.org/drawingml/2006/table">
            <a:tbl>
              <a:tblPr>
                <a:noFill/>
                <a:tableStyleId>{0AAD8F4D-43EB-41E5-8A38-28AB6DFB1B60}</a:tableStyleId>
              </a:tblPr>
              <a:tblGrid>
                <a:gridCol w="1802758">
                  <a:extLst>
                    <a:ext uri="{9D8B030D-6E8A-4147-A177-3AD203B41FA5}">
                      <a16:colId xmlns:a16="http://schemas.microsoft.com/office/drawing/2014/main" val="20000"/>
                    </a:ext>
                  </a:extLst>
                </a:gridCol>
                <a:gridCol w="2407534">
                  <a:extLst>
                    <a:ext uri="{9D8B030D-6E8A-4147-A177-3AD203B41FA5}">
                      <a16:colId xmlns:a16="http://schemas.microsoft.com/office/drawing/2014/main" val="20002"/>
                    </a:ext>
                  </a:extLst>
                </a:gridCol>
                <a:gridCol w="3020993">
                  <a:extLst>
                    <a:ext uri="{9D8B030D-6E8A-4147-A177-3AD203B41FA5}">
                      <a16:colId xmlns:a16="http://schemas.microsoft.com/office/drawing/2014/main" val="20003"/>
                    </a:ext>
                  </a:extLst>
                </a:gridCol>
                <a:gridCol w="216370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635056">
                <a:tc>
                  <a:txBody>
                    <a:bodyPr/>
                    <a:lstStyle/>
                    <a:p>
                      <a:pPr marL="0" marR="0" lvl="0" indent="0" algn="l" rtl="0">
                        <a:spcBef>
                          <a:spcPts val="0"/>
                        </a:spcBef>
                        <a:spcAft>
                          <a:spcPts val="0"/>
                        </a:spcAft>
                        <a:buNone/>
                      </a:pPr>
                      <a:r>
                        <a:rPr lang="en-US" dirty="0" smtClean="0"/>
                        <a:t>Radhika </a:t>
                      </a:r>
                      <a:r>
                        <a:rPr lang="en-US" dirty="0" err="1" smtClean="0"/>
                        <a:t>Bodhe</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radhikabodhe.tcoert@kjei.edu.in</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9867759704</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a:t>
            </a:r>
            <a:r>
              <a:rPr lang="en-US" sz="2400" dirty="0"/>
              <a:t>– </a:t>
            </a:r>
            <a:r>
              <a:rPr lang="en-US" sz="2400" dirty="0"/>
              <a:t> </a:t>
            </a:r>
            <a:r>
              <a:rPr lang="en-US" sz="2400" dirty="0"/>
              <a:t>Healthcare </a:t>
            </a:r>
            <a:endParaRPr lang="en-IN" sz="2400"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 </a:t>
            </a:r>
            <a:r>
              <a:rPr lang="en-US" sz="2400" dirty="0"/>
              <a:t>Agentic AI for Mental Health Awareness &amp; Suicide </a:t>
            </a:r>
            <a:r>
              <a:rPr lang="en-US" sz="2400" dirty="0" smtClean="0"/>
              <a:t>Prevention </a:t>
            </a:r>
            <a:endParaRPr lang="en-IN" sz="2400" b="1" dirty="0">
              <a:highlight>
                <a:srgbClr val="FFFF00"/>
              </a:highlight>
            </a:endParaRPr>
          </a:p>
        </p:txBody>
      </p:sp>
      <p:pic>
        <p:nvPicPr>
          <p:cNvPr id="2" name="Picture 1"/>
          <p:cNvPicPr>
            <a:picLocks noChangeAspect="1"/>
          </p:cNvPicPr>
          <p:nvPr/>
        </p:nvPicPr>
        <p:blipFill>
          <a:blip r:embed="rId3"/>
          <a:stretch>
            <a:fillRect/>
          </a:stretch>
        </p:blipFill>
        <p:spPr>
          <a:xfrm>
            <a:off x="-276224" y="-4191000"/>
            <a:ext cx="701447" cy="838800"/>
          </a:xfrm>
          <a:prstGeom prst="rect">
            <a:avLst/>
          </a:prstGeom>
        </p:spPr>
      </p:pic>
      <p:pic>
        <p:nvPicPr>
          <p:cNvPr id="3" name="Picture 2"/>
          <p:cNvPicPr>
            <a:picLocks noChangeAspect="1"/>
          </p:cNvPicPr>
          <p:nvPr/>
        </p:nvPicPr>
        <p:blipFill>
          <a:blip r:embed="rId3"/>
          <a:stretch>
            <a:fillRect/>
          </a:stretch>
        </p:blipFill>
        <p:spPr>
          <a:xfrm>
            <a:off x="3125166" y="3541854"/>
            <a:ext cx="2176040" cy="166675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
        <p:nvSpPr>
          <p:cNvPr id="4" name="Rectangle 3"/>
          <p:cNvSpPr/>
          <p:nvPr/>
        </p:nvSpPr>
        <p:spPr>
          <a:xfrm>
            <a:off x="1122743" y="1767779"/>
            <a:ext cx="9329195" cy="5155257"/>
          </a:xfrm>
          <a:prstGeom prst="rect">
            <a:avLst/>
          </a:prstGeom>
        </p:spPr>
        <p:txBody>
          <a:bodyPr wrap="square">
            <a:spAutoFit/>
          </a:bodyPr>
          <a:lstStyle/>
          <a:p>
            <a:pPr algn="just">
              <a:lnSpc>
                <a:spcPct val="150000"/>
              </a:lnSpc>
            </a:pPr>
            <a:r>
              <a:rPr lang="en-US" dirty="0"/>
              <a:t>Mental health issues such as stress, anxiety, depression, loneliness, burnout, and emotional distress are increasing across students, professionals, and communities worldwide. Despite the growing need for support, many individuals remain unaware of mental health resources, hesitate to seek help due to stigma, or fail to recognize early warning signs of psychological distress. Limited access to timely guidance and professional support can lead to worsening mental health conditions and, in severe cases, increase the risk of self-harm or suicide.</a:t>
            </a:r>
          </a:p>
          <a:p>
            <a:pPr algn="just">
              <a:lnSpc>
                <a:spcPct val="150000"/>
              </a:lnSpc>
            </a:pPr>
            <a:r>
              <a:rPr lang="en-US" dirty="0"/>
              <a:t>The challenge is to develop an Agentic AI-powered mental health support system that can proactively engage users, promote mental health awareness, detect signs of emotional distress through conversations and behavioral patterns (with user consent), and provide personalized wellness recommendations. The system should intelligently assess risk levels, encourage healthy coping strategies, and safely guide users toward trusted support networks, mental health professionals, crisis helplines, or emergency services when required.</a:t>
            </a:r>
          </a:p>
          <a:p>
            <a:pPr algn="just">
              <a:lnSpc>
                <a:spcPct val="150000"/>
              </a:lnSpc>
            </a:pPr>
            <a:r>
              <a:rPr lang="en-US" dirty="0"/>
              <a:t>The solution must leverage a multi-agent AI architecture capable of education, emotional analysis, recommendation generation, follow-up engagement, and crisis intervention while ensuring privacy, transparency, security, and ethical AI practices. The ultimate goal is to create an accessible, trustworthy, and scalable digital companion that supports early intervention, reduces stigma around mental health, improves awareness, and contributes to suicide prevention efforts.</a:t>
            </a:r>
          </a:p>
          <a:p>
            <a:endParaRPr lang="en-IN"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6586418"/>
          </a:xfrm>
          <a:prstGeom prst="rect">
            <a:avLst/>
          </a:prstGeom>
          <a:noFill/>
        </p:spPr>
        <p:txBody>
          <a:bodyPr wrap="square" rtlCol="0">
            <a:spAutoFit/>
          </a:bodyPr>
          <a:lstStyle/>
          <a:p>
            <a:r>
              <a:rPr lang="en-US" sz="1200" b="1" dirty="0"/>
              <a:t>Core IBM Technologies</a:t>
            </a:r>
          </a:p>
          <a:p>
            <a:r>
              <a:rPr lang="en-US" sz="1200" b="1" dirty="0"/>
              <a:t>1. </a:t>
            </a:r>
            <a:r>
              <a:rPr lang="en-US" sz="1200" b="1" dirty="0">
                <a:hlinkClick r:id="rId3"/>
              </a:rPr>
              <a:t>IBM </a:t>
            </a:r>
            <a:r>
              <a:rPr lang="en-US" sz="1200" b="1" dirty="0" err="1">
                <a:hlinkClick r:id="rId3"/>
              </a:rPr>
              <a:t>watsonx</a:t>
            </a:r>
            <a:r>
              <a:rPr lang="en-US" sz="1200" b="1" dirty="0">
                <a:hlinkClick r:id="rId3"/>
              </a:rPr>
              <a:t> Orchestrate</a:t>
            </a:r>
            <a:endParaRPr lang="en-US" sz="1200" b="1" dirty="0"/>
          </a:p>
          <a:p>
            <a:r>
              <a:rPr lang="en-US" sz="1200" b="1" dirty="0"/>
              <a:t>Role:</a:t>
            </a:r>
            <a:r>
              <a:rPr lang="en-US" sz="1200" dirty="0"/>
              <a:t> Central Agent Orchestration Platform</a:t>
            </a:r>
          </a:p>
          <a:p>
            <a:r>
              <a:rPr lang="en-US" sz="1200" dirty="0"/>
              <a:t>Coordinates multiple AI agents. </a:t>
            </a:r>
          </a:p>
          <a:p>
            <a:r>
              <a:rPr lang="en-US" sz="1200" dirty="0"/>
              <a:t>Manages workflows and task execution. </a:t>
            </a:r>
          </a:p>
          <a:p>
            <a:r>
              <a:rPr lang="en-US" sz="1200" dirty="0"/>
              <a:t>Routes user requests to appropriate agents. </a:t>
            </a:r>
          </a:p>
          <a:p>
            <a:r>
              <a:rPr lang="en-US" sz="1200" dirty="0"/>
              <a:t>Automates follow-up actions and wellness check-ins. </a:t>
            </a:r>
          </a:p>
          <a:p>
            <a:r>
              <a:rPr lang="en-US" sz="1200" dirty="0"/>
              <a:t>Enables collaboration between Awareness, Emotion Detection, Recommendation, and Crisis Response agents. </a:t>
            </a:r>
          </a:p>
          <a:p>
            <a:r>
              <a:rPr lang="en-IN" sz="1200" b="1" dirty="0"/>
              <a:t>2. </a:t>
            </a:r>
            <a:r>
              <a:rPr lang="en-IN" sz="1200" b="1" dirty="0">
                <a:hlinkClick r:id="rId4"/>
              </a:rPr>
              <a:t>IBM watsonx.ai</a:t>
            </a:r>
            <a:endParaRPr lang="en-IN" sz="1200" b="1" dirty="0"/>
          </a:p>
          <a:p>
            <a:r>
              <a:rPr lang="en-IN" sz="1200" b="1" dirty="0"/>
              <a:t>Role:</a:t>
            </a:r>
            <a:r>
              <a:rPr lang="en-IN" sz="1200" dirty="0"/>
              <a:t> Foundation Model &amp; AI Engine</a:t>
            </a:r>
          </a:p>
          <a:p>
            <a:r>
              <a:rPr lang="en-IN" sz="1200" dirty="0"/>
              <a:t>Natural Language Understanding. </a:t>
            </a:r>
          </a:p>
          <a:p>
            <a:r>
              <a:rPr lang="en-IN" sz="1200" dirty="0"/>
              <a:t>Conversational AI. </a:t>
            </a:r>
          </a:p>
          <a:p>
            <a:r>
              <a:rPr lang="en-IN" sz="1200" dirty="0"/>
              <a:t>Sentiment and emotion analysis. </a:t>
            </a:r>
          </a:p>
          <a:p>
            <a:r>
              <a:rPr lang="en-IN" sz="1200" dirty="0"/>
              <a:t>Personalized response generation. </a:t>
            </a:r>
          </a:p>
          <a:p>
            <a:r>
              <a:rPr lang="en-IN" sz="1200" dirty="0"/>
              <a:t>Retrieval-Augmented Generation (RAG).</a:t>
            </a:r>
          </a:p>
          <a:p>
            <a:r>
              <a:rPr lang="en-US" sz="1200" b="1" dirty="0" smtClean="0"/>
              <a:t>3. </a:t>
            </a:r>
            <a:r>
              <a:rPr lang="en-US" sz="1200" b="1" dirty="0">
                <a:hlinkClick r:id="rId5"/>
              </a:rPr>
              <a:t>IBM </a:t>
            </a:r>
            <a:r>
              <a:rPr lang="en-US" sz="1200" b="1" dirty="0" err="1">
                <a:hlinkClick r:id="rId5"/>
              </a:rPr>
              <a:t>watsonx.data</a:t>
            </a:r>
            <a:endParaRPr lang="en-US" sz="1200" b="1" dirty="0"/>
          </a:p>
          <a:p>
            <a:r>
              <a:rPr lang="en-US" sz="1200" b="1" dirty="0"/>
              <a:t>Role:</a:t>
            </a:r>
            <a:r>
              <a:rPr lang="en-US" sz="1200" dirty="0"/>
              <a:t> Knowledge Repository</a:t>
            </a:r>
          </a:p>
          <a:p>
            <a:r>
              <a:rPr lang="en-US" sz="1200" dirty="0"/>
              <a:t>Stores mental health resources. </a:t>
            </a:r>
          </a:p>
          <a:p>
            <a:r>
              <a:rPr lang="en-US" sz="1200" dirty="0"/>
              <a:t>Maintains wellness content. </a:t>
            </a:r>
          </a:p>
          <a:p>
            <a:r>
              <a:rPr lang="en-US" sz="1200" dirty="0"/>
              <a:t>Stores FAQ databases. </a:t>
            </a:r>
          </a:p>
          <a:p>
            <a:r>
              <a:rPr lang="en-US" sz="1200" dirty="0"/>
              <a:t>Supports semantic search and retrieval</a:t>
            </a:r>
            <a:r>
              <a:rPr lang="en-US" sz="1200" dirty="0" smtClean="0"/>
              <a:t>.</a:t>
            </a:r>
          </a:p>
          <a:p>
            <a:r>
              <a:rPr lang="en-US" sz="1200" b="1" dirty="0"/>
              <a:t>4. </a:t>
            </a:r>
            <a:r>
              <a:rPr lang="en-US" sz="1200" b="1" dirty="0">
                <a:hlinkClick r:id="rId6"/>
              </a:rPr>
              <a:t>IBM Cloud</a:t>
            </a:r>
            <a:endParaRPr lang="en-US" sz="1200" b="1" dirty="0"/>
          </a:p>
          <a:p>
            <a:r>
              <a:rPr lang="en-US" sz="1200" b="1" dirty="0"/>
              <a:t>Role:</a:t>
            </a:r>
            <a:r>
              <a:rPr lang="en-US" sz="1200" dirty="0"/>
              <a:t> Cloud Infrastructure</a:t>
            </a:r>
          </a:p>
          <a:p>
            <a:r>
              <a:rPr lang="en-US" sz="1200" dirty="0"/>
              <a:t>Application hosting. </a:t>
            </a:r>
          </a:p>
          <a:p>
            <a:r>
              <a:rPr lang="en-US" sz="1200" dirty="0"/>
              <a:t>Secure data storage. </a:t>
            </a:r>
          </a:p>
          <a:p>
            <a:r>
              <a:rPr lang="en-US" sz="1200" dirty="0"/>
              <a:t>Authentication and access control. </a:t>
            </a:r>
          </a:p>
          <a:p>
            <a:r>
              <a:rPr lang="en-US" sz="1200" dirty="0"/>
              <a:t>Monitoring and scalability.</a:t>
            </a:r>
          </a:p>
          <a:p>
            <a:endParaRPr lang="en-US" dirty="0"/>
          </a:p>
          <a:p>
            <a:pPr fontAlgn="base"/>
            <a:endParaRPr lang="en-US" dirty="0" smtClean="0"/>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80738"/>
            <a:ext cx="10607040" cy="4899868"/>
          </a:xfrm>
          <a:prstGeom prst="rect">
            <a:avLst/>
          </a:prstGeom>
          <a:noFill/>
        </p:spPr>
        <p:txBody>
          <a:bodyPr wrap="square" rtlCol="0">
            <a:spAutoFit/>
          </a:bodyPr>
          <a:lstStyle/>
          <a:p>
            <a:pPr algn="just" fontAlgn="base">
              <a:lnSpc>
                <a:spcPct val="150000"/>
              </a:lnSpc>
            </a:pPr>
            <a:r>
              <a:rPr lang="en-US" dirty="0"/>
              <a:t>The proposed solution is an </a:t>
            </a:r>
            <a:r>
              <a:rPr lang="en-US" b="1" dirty="0"/>
              <a:t>Agentic AI-powered Mental Health Awareness and Suicide Prevention platform</a:t>
            </a:r>
            <a:r>
              <a:rPr lang="en-US" dirty="0"/>
              <a:t> built using </a:t>
            </a:r>
            <a:r>
              <a:rPr lang="en-US" dirty="0">
                <a:hlinkClick r:id="rId3"/>
              </a:rPr>
              <a:t>IBM </a:t>
            </a:r>
            <a:r>
              <a:rPr lang="en-US" dirty="0" err="1">
                <a:hlinkClick r:id="rId3"/>
              </a:rPr>
              <a:t>watsonx</a:t>
            </a:r>
            <a:r>
              <a:rPr lang="en-US" dirty="0">
                <a:hlinkClick r:id="rId3"/>
              </a:rPr>
              <a:t> Orchestrate</a:t>
            </a:r>
            <a:r>
              <a:rPr lang="en-US" dirty="0"/>
              <a:t> as the central orchestration layer. The system leverages multiple specialized AI agents that collaborate to provide mental health education, emotional well-being support, personalized wellness recommendations, and crisis intervention assistance. Users can interact with the platform through a web or mobile interface to discuss their concerns, track their emotional health, access educational resources, and receive guidance tailored to their needs. The Emotion Analysis Agent continuously analyzes user interactions to identify signs of stress, anxiety, depression, or emotional distress, while the Risk Assessment Agent evaluates the severity of the situation. Based on this analysis, the Wellness Recommendation Agent suggests coping strategies such as mindfulness exercises, breathing techniques, journaling activities, sleep improvement practices, and healthy lifestyle habits. The Mental Health Awareness Agent delivers reliable information and awareness content to reduce stigma and improve understanding of mental health issues. In situations where elevated risk is detected, the Crisis Intervention Agent provides immediate support by directing users to trusted adults, mental health professionals, helplines, or emergency services. A Follow-up Agent proactively conducts wellness check-ins and monitors progress over time to encourage sustained engagement and early intervention. By combining AI-driven emotional intelligence, trusted mental health knowledge, workflow automation, and ethical AI principles, the proposed solution aims to create an accessible, scalable, and proactive digital companion that promotes mental well-being, facilitates early detection of emotional distress, and contributes to suicide prevention.</a:t>
            </a:r>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0"/>
            <a:ext cx="14984916" cy="6963747"/>
          </a:xfrm>
          <a:prstGeom prst="rect">
            <a:avLst/>
          </a:prstGeom>
        </p:spPr>
      </p:pic>
    </p:spTree>
    <p:extLst>
      <p:ext uri="{BB962C8B-B14F-4D97-AF65-F5344CB8AC3E}">
        <p14:creationId xmlns:p14="http://schemas.microsoft.com/office/powerpoint/2010/main" val="1536983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482195" y="-86216"/>
            <a:ext cx="15156390" cy="7030431"/>
          </a:xfrm>
          <a:prstGeom prst="rect">
            <a:avLst/>
          </a:prstGeom>
        </p:spPr>
      </p:pic>
    </p:spTree>
    <p:extLst>
      <p:ext uri="{BB962C8B-B14F-4D97-AF65-F5344CB8AC3E}">
        <p14:creationId xmlns:p14="http://schemas.microsoft.com/office/powerpoint/2010/main" val="42437749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C</a:t>
            </a:r>
            <a:r>
              <a:rPr lang="en-US" sz="2400" b="1" dirty="0" smtClean="0">
                <a:sym typeface="Times New Roman"/>
              </a:rPr>
              <a:t>omponent </a:t>
            </a:r>
            <a:r>
              <a:rPr lang="en-US" sz="2400" b="1" dirty="0">
                <a:sym typeface="Times New Roman"/>
              </a:rPr>
              <a:t>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6124754"/>
          </a:xfrm>
          <a:prstGeom prst="rect">
            <a:avLst/>
          </a:prstGeom>
          <a:noFill/>
        </p:spPr>
        <p:txBody>
          <a:bodyPr wrap="square" rtlCol="0">
            <a:spAutoFit/>
          </a:bodyPr>
          <a:lstStyle/>
          <a:p>
            <a:endParaRPr lang="en-US" dirty="0"/>
          </a:p>
          <a:p>
            <a:r>
              <a:rPr lang="en-US" dirty="0" smtClean="0"/>
              <a:t>Knowledge Based</a:t>
            </a:r>
            <a:endParaRPr lang="en-US" dirty="0"/>
          </a:p>
          <a:p>
            <a:endParaRPr lang="en-US" b="1" dirty="0" smtClean="0"/>
          </a:p>
          <a:p>
            <a:pPr marL="342900" indent="-342900">
              <a:buAutoNum type="arabicParenR"/>
            </a:pPr>
            <a:r>
              <a:rPr lang="en-US" dirty="0" smtClean="0"/>
              <a:t>File </a:t>
            </a:r>
            <a:r>
              <a:rPr lang="en-US" dirty="0"/>
              <a:t>component - Stores and retrieves user data, meal logs, and nutritional datasets for analysis and tracking</a:t>
            </a:r>
            <a:r>
              <a:rPr lang="en-US" dirty="0" smtClean="0"/>
              <a:t>.</a:t>
            </a:r>
          </a:p>
          <a:p>
            <a:pPr algn="just"/>
            <a:r>
              <a:rPr lang="en-US" b="1" dirty="0" smtClean="0"/>
              <a:t>Agentic </a:t>
            </a:r>
            <a:r>
              <a:rPr lang="en-US" b="1" dirty="0"/>
              <a:t>AI for Mental Health Awareness &amp; Suicide Prevention</a:t>
            </a:r>
            <a:r>
              <a:rPr lang="en-US" dirty="0"/>
              <a:t> project, the </a:t>
            </a:r>
            <a:r>
              <a:rPr lang="en-US" b="1" dirty="0"/>
              <a:t>File Component</a:t>
            </a:r>
            <a:r>
              <a:rPr lang="en-US" dirty="0"/>
              <a:t> is used to generate and manage PDF reports that summarize a user's mental wellness journey and AI-assisted support activities. The component collects information from different AI agents, including emotional analysis results, mood tracking data, wellness recommendations, awareness resources accessed, and follow-up activities. Using IBM </a:t>
            </a:r>
            <a:r>
              <a:rPr lang="en-US" dirty="0" err="1"/>
              <a:t>Watsonx</a:t>
            </a:r>
            <a:r>
              <a:rPr lang="en-US" dirty="0"/>
              <a:t> Orchestrate, the system compiles this information into a well-structured PDF document that users can download for personal reference.</a:t>
            </a:r>
          </a:p>
          <a:p>
            <a:pPr algn="just"/>
            <a:r>
              <a:rPr lang="en-US" dirty="0"/>
              <a:t>The generated PDF may include the user's emotional wellness summary, detected stress or anxiety trends, recommended coping strategies, daily wellness goals, completed activities, and mental health educational content. For users who consent, the report can also be shared with counselors, healthcare professionals, or family members to support informed decision-making and continuity of care. The File Component ensures secure document generation, protects user privacy, and provides a convenient way to maintain records of mental health progress. By transforming AI-generated insights into a professional report, this component enhances user engagement, tracking, and long-term mental wellness management.</a:t>
            </a:r>
          </a:p>
          <a:p>
            <a:pPr algn="just"/>
            <a:endParaRPr lang="en-US" dirty="0"/>
          </a:p>
          <a:p>
            <a:pPr algn="just"/>
            <a:endParaRPr lang="en-US" dirty="0"/>
          </a:p>
          <a:p>
            <a:pPr marL="342900" indent="-342900">
              <a:buAutoNum type="arabicParenR" startAt="3"/>
            </a:pPr>
            <a:endParaRPr lang="en-US" dirty="0"/>
          </a:p>
          <a:p>
            <a:endParaRPr lang="en-US" dirty="0"/>
          </a:p>
          <a:p>
            <a:endParaRPr lang="en-US" dirty="0"/>
          </a:p>
          <a:p>
            <a:endParaRPr lang="en-US" dirty="0"/>
          </a:p>
          <a:p>
            <a:endParaRPr lang="en-US" b="1" dirty="0">
              <a:solidFill>
                <a:schemeClr val="tx1"/>
              </a:solidFill>
            </a:endParaRPr>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rotWithShape="1">
          <a:blip r:embed="rId3">
            <a:alphaModFix/>
          </a:blip>
          <a:srcRect/>
          <a:stretch/>
        </p:blipFill>
        <p:spPr>
          <a:xfrm>
            <a:off x="699152" y="1071448"/>
            <a:ext cx="10429095" cy="5612816"/>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832092"/>
          </a:xfrm>
          <a:prstGeom prst="rect">
            <a:avLst/>
          </a:prstGeom>
          <a:noFill/>
        </p:spPr>
        <p:txBody>
          <a:bodyPr wrap="square" rtlCol="0">
            <a:spAutoFit/>
          </a:bodyPr>
          <a:lstStyle/>
          <a:p>
            <a:r>
              <a:rPr lang="en-US"/>
              <a:t>Agentic AI serves as the core intelligence of the </a:t>
            </a:r>
            <a:r>
              <a:rPr lang="en-US" b="1"/>
              <a:t>Mental Health Awareness &amp; Suicide Prevention</a:t>
            </a:r>
            <a:r>
              <a:rPr lang="en-US"/>
              <a:t> platform by enabling multiple specialized AI agents to work collaboratively and autonomously. Unlike traditional chatbots that simply respond to user queries, Agentic AI can understand user needs, make decisions, coordinate tasks, and proactively take appropriate actions. In this project, Agentic AI continuously monitors user interactions to identify emotional distress, assess mental well-being, provide personalized recommendations, and determine when additional support may be required.</a:t>
            </a:r>
          </a:p>
          <a:p>
            <a:r>
              <a:rPr lang="en-US"/>
              <a:t>Using </a:t>
            </a:r>
            <a:r>
              <a:rPr lang="en-US" b="1"/>
              <a:t>IBM Watsonx Orchestrate</a:t>
            </a:r>
            <a:r>
              <a:rPr lang="en-US"/>
              <a:t>, the system coordinates various agents such as the Mental Health Awareness Agent, Emotion Analysis Agent, Wellness Recommendation Agent, Risk Assessment Agent, Crisis Intervention Agent, and Follow-up Agent. Each agent performs a specific task while sharing information with other agents to deliver a comprehensive and personalized user experience. For example, when a user expresses stress or anxiety, the Emotion Analysis Agent detects the emotional state, the Risk Assessment Agent evaluates the severity, the Wellness Recommendation Agent suggests coping strategies, and the Follow-up Agent schedules future wellness check-ins. If a potentially critical situation is identified, the Crisis Intervention Agent provides appropriate support resources and encourages contact with trusted people or professional services.</a:t>
            </a:r>
          </a:p>
          <a:p>
            <a:r>
              <a:rPr lang="en-US"/>
              <a:t>By automating decision-making, personalizing support, enabling proactive engagement, and coordinating multiple AI capabilities, Agentic AI transforms the platform into an intelligent digital companion that promotes mental health awareness, supports early intervention, and helps users access appropriate resources in a timely and ethical manner. This makes the solution more effective, scalable, and responsive than conventional rule-based systems.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232202"/>
          </a:xfrm>
          <a:prstGeom prst="rect">
            <a:avLst/>
          </a:prstGeom>
          <a:noFill/>
        </p:spPr>
        <p:txBody>
          <a:bodyPr wrap="square" rtlCol="0">
            <a:spAutoFit/>
          </a:bodyPr>
          <a:lstStyle/>
          <a:p>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a:t>
            </a:r>
            <a:r>
              <a:rPr lang="en-US" sz="1800" dirty="0" smtClean="0"/>
              <a:t>governance</a:t>
            </a:r>
          </a:p>
          <a:p>
            <a:endParaRPr lang="en-US" sz="1800" dirty="0" smtClean="0"/>
          </a:p>
          <a:p>
            <a:pPr marL="285750" indent="-285750">
              <a:buFont typeface="Arial" panose="020B0604020202020204" pitchFamily="34" charset="0"/>
              <a:buChar char="•"/>
            </a:pPr>
            <a:r>
              <a:rPr lang="en-US" sz="1800" b="1" dirty="0"/>
              <a:t>IBM </a:t>
            </a:r>
            <a:r>
              <a:rPr lang="en-US" sz="1800" b="1" dirty="0" err="1"/>
              <a:t>Watsonx</a:t>
            </a:r>
            <a:r>
              <a:rPr lang="en-US" sz="1800" b="1" dirty="0"/>
              <a:t> Orchestrate</a:t>
            </a:r>
            <a:endParaRPr lang="en-US" sz="1800" b="1"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508927"/>
          </a:xfrm>
          <a:prstGeom prst="rect">
            <a:avLst/>
          </a:prstGeom>
          <a:noFill/>
        </p:spPr>
        <p:txBody>
          <a:bodyPr wrap="square" rtlCol="0">
            <a:spAutoFit/>
          </a:bodyPr>
          <a:lstStyle/>
          <a:p>
            <a:pPr algn="just">
              <a:lnSpc>
                <a:spcPct val="150000"/>
              </a:lnSpc>
            </a:pPr>
            <a:r>
              <a:rPr lang="en-US" dirty="0" smtClean="0"/>
              <a:t>The </a:t>
            </a:r>
            <a:r>
              <a:rPr lang="en-US" dirty="0"/>
              <a:t>novelty of this project lies in its use of </a:t>
            </a:r>
            <a:r>
              <a:rPr lang="en-US" b="1" dirty="0"/>
              <a:t>Agentic AI</a:t>
            </a:r>
            <a:r>
              <a:rPr lang="en-US" dirty="0"/>
              <a:t> to provide proactive, personalized, and continuous mental health support rather than functioning as a traditional question-answer </a:t>
            </a:r>
            <a:r>
              <a:rPr lang="en-US" dirty="0" err="1"/>
              <a:t>chatbot</a:t>
            </a:r>
            <a:r>
              <a:rPr lang="en-US" dirty="0"/>
              <a:t>. Unlike conventional mental health applications that only respond when users actively seek help, our solution employs multiple intelligent agents working collaboratively through </a:t>
            </a:r>
            <a:r>
              <a:rPr lang="en-US" b="1" dirty="0">
                <a:hlinkClick r:id="rId3"/>
              </a:rPr>
              <a:t>IBM </a:t>
            </a:r>
            <a:r>
              <a:rPr lang="en-US" b="1" dirty="0" err="1">
                <a:hlinkClick r:id="rId3"/>
              </a:rPr>
              <a:t>watsonx</a:t>
            </a:r>
            <a:r>
              <a:rPr lang="en-US" b="1" dirty="0">
                <a:hlinkClick r:id="rId3"/>
              </a:rPr>
              <a:t> Orchestrate</a:t>
            </a:r>
            <a:r>
              <a:rPr lang="en-US" dirty="0"/>
              <a:t> to understand emotional states, assess risks, deliver tailored wellness recommendations, and initiate follow-up interactions. This creates a more dynamic and human-centric support system capable of adapting to each user's emotional needs.</a:t>
            </a:r>
          </a:p>
          <a:p>
            <a:pPr algn="just">
              <a:lnSpc>
                <a:spcPct val="150000"/>
              </a:lnSpc>
            </a:pPr>
            <a:r>
              <a:rPr lang="en-US" dirty="0"/>
              <a:t>A key unique feature is the </a:t>
            </a:r>
            <a:r>
              <a:rPr lang="en-US" b="1" dirty="0"/>
              <a:t>multi-agent architecture</a:t>
            </a:r>
            <a:r>
              <a:rPr lang="en-US" dirty="0"/>
              <a:t>, where specialized agents handle awareness, emotion detection, risk assessment, wellness planning, crisis intervention, and follow-up monitoring. These agents communicate and coordinate autonomously to provide comprehensive support rather than relying on a single AI model. The system also combines mental health education, emotional analysis, personalized self-care guidance, and crisis support within one integrated platform. Another innovative aspect is the generation of wellness reports and progress summaries that help users track their mental well-being over time. By leveraging AI-driven emotional intelligence, proactive engagement, ethical decision-making, and automated orchestration, the proposed solution offers an accessible, scalable, and preventive approach to mental health awareness and suicide prevention, making it significantly different from existing </a:t>
            </a:r>
            <a:r>
              <a:rPr lang="en-US" dirty="0" err="1"/>
              <a:t>chatbot</a:t>
            </a:r>
            <a:r>
              <a:rPr lang="en-US" dirty="0"/>
              <a:t>-based mental health tools.</a:t>
            </a:r>
          </a:p>
          <a:p>
            <a:pPr algn="just"/>
            <a:endParaRPr lang="en-IN" dirty="0"/>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r>
              <a:rPr lang="en-US" sz="1850" dirty="0">
                <a:solidFill>
                  <a:srgbClr val="2B3541"/>
                </a:solidFill>
                <a:latin typeface="Times New Roman"/>
                <a:ea typeface="Times New Roman"/>
                <a:cs typeface="Times New Roman"/>
                <a:sym typeface="Times New Roman"/>
              </a:rPr>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722013" y="420729"/>
            <a:ext cx="6941207"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722013" y="1019111"/>
            <a:ext cx="9214580" cy="4277001"/>
          </a:xfrm>
          <a:prstGeom prst="rect">
            <a:avLst/>
          </a:prstGeom>
          <a:noFill/>
          <a:ln>
            <a:noFill/>
          </a:ln>
        </p:spPr>
        <p:txBody>
          <a:bodyPr spcFirstLastPara="1" wrap="square" lIns="0" tIns="0" rIns="0" bIns="0" anchor="t" anchorCtr="0">
            <a:noAutofit/>
          </a:bodyPr>
          <a:lstStyle/>
          <a:p>
            <a:pPr algn="just">
              <a:lnSpc>
                <a:spcPct val="150000"/>
              </a:lnSpc>
            </a:pPr>
            <a:r>
              <a:rPr lang="en-US" sz="1600" dirty="0"/>
              <a:t>The proposed </a:t>
            </a:r>
            <a:r>
              <a:rPr lang="en-US" sz="1600" b="1" dirty="0"/>
              <a:t>Agentic AI for Mental Health Awareness &amp; Suicide Prevention</a:t>
            </a:r>
            <a:r>
              <a:rPr lang="en-US" sz="1600" dirty="0"/>
              <a:t> platform can be expanded in several ways to enhance its effectiveness and reach. Future versions of the system can incorporate </a:t>
            </a:r>
            <a:r>
              <a:rPr lang="en-US" sz="1600" b="1" dirty="0"/>
              <a:t>voice-based emotion recognition</a:t>
            </a:r>
            <a:r>
              <a:rPr lang="en-US" sz="1600" dirty="0"/>
              <a:t> to analyze speech patterns, tone, and sentiment for more accurate emotional assessment. Integration with </a:t>
            </a:r>
            <a:r>
              <a:rPr lang="en-US" sz="1600" b="1" dirty="0"/>
              <a:t>wearable devices and smartwatches</a:t>
            </a:r>
            <a:r>
              <a:rPr lang="en-US" sz="1600" dirty="0"/>
              <a:t> can enable real-time monitoring of health indicators such as sleep quality, heart rate, physical activity, and stress levels, allowing the AI agents to provide more personalized wellness recommendations.</a:t>
            </a:r>
          </a:p>
          <a:p>
            <a:pPr algn="just">
              <a:lnSpc>
                <a:spcPct val="150000"/>
              </a:lnSpc>
            </a:pPr>
            <a:r>
              <a:rPr lang="en-US" sz="1600" dirty="0"/>
              <a:t>The platform can also be extended with </a:t>
            </a:r>
            <a:r>
              <a:rPr lang="en-US" sz="1600" b="1" dirty="0"/>
              <a:t>multilingual support</a:t>
            </a:r>
            <a:r>
              <a:rPr lang="en-US" sz="1600" dirty="0"/>
              <a:t> to serve users from diverse linguistic backgrounds and improve accessibility. Advanced predictive analytics and machine learning models can be developed to identify long-term mental health trends and provide early warnings for potential emotional crises. Integration with telemedicine platforms and mental health professionals can facilitate seamless referrals and virtual counseling sessions. Additionally, community support features, peer-support networks, and AI-powered group wellness programs can be introduced to foster social connection and reduce feelings of isolation. With continuous learning and enhancement, the system has the potential to evolve into a comprehensive digital mental health ecosystem that supports prevention, awareness, intervention, and long-term emotional well-being on a larger scale.</a:t>
            </a:r>
          </a:p>
          <a:p>
            <a:pPr marL="0" marR="0" lvl="0" indent="0" algn="l" rtl="0">
              <a:lnSpc>
                <a:spcPct val="150000"/>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1215</TotalTime>
  <Words>1835</Words>
  <Application>Microsoft Office PowerPoint</Application>
  <PresentationFormat>Widescreen</PresentationFormat>
  <Paragraphs>103</Paragraphs>
  <Slides>15</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admin</cp:lastModifiedBy>
  <cp:revision>46</cp:revision>
  <dcterms:created xsi:type="dcterms:W3CDTF">2025-07-08T05:06:56Z</dcterms:created>
  <dcterms:modified xsi:type="dcterms:W3CDTF">2026-06-17T09:11:23Z</dcterms:modified>
</cp:coreProperties>
</file>